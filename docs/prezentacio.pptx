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Calibri"/>
              </a:defRPr>
            </a:pPr>
            <a:r>
              <a:t>Utvonaltervezo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CC"/>
                </a:solidFill>
                <a:latin typeface="Calibri"/>
              </a:defRPr>
            </a:pPr>
            <a:r>
              <a:t>Graf alapu legrovidebb ut kereses es szallitasi logisztika C-ben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657600"/>
            <a:ext cx="3931920" cy="254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CC"/>
                </a:solidFill>
                <a:latin typeface="Calibri"/>
              </a:defRPr>
            </a:pPr>
            <a:r>
              <a:t>Kotelezo nagy hazi feladat  |  Algoritmus es adatszerkezet hatekony implementalasa C-ben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  <a:latin typeface="Calibri"/>
              </a:defRPr>
            </a:pPr>
            <a:r>
              <a:t>2026. majus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Projekt attekintes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Celkituzes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Valos ideju utvonaltervezo motor implementalasa C nyelven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Graf-alapu varosterkep modellezese (helyszinek + utak)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Legrovidebb ut meghatarozasa Dijkstra algoritmussal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Prioritas-alapu szallitasi sorrend optimalizalasa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Fobb funkciok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Interaktiv CLI menurendszer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Terkep kezelese (helyszinek / utak hozzaadasa, torlese)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Legrovidebb ut kereses (egyedi es osszes utvonal)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Szallitasi cimek prioritas szerinti rendezese es utvonalterv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Terkep fajlba mentese / betoltese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07040" cy="210312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FFD93D"/>
                </a:solidFill>
                <a:latin typeface="Calibri"/>
              </a:defRPr>
            </a:pPr>
            <a:r>
              <a:t>Hasznalt adatszerkezetek es algoritmusok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Adatszerkezetek: Graf (ellista reprezentacio)  |  Binaris minimalis kupac (priority queue)  |  Prioritasi sor (tomb + insertion sort)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Algoritmusok: Dijkstra legrovidebb ut kereses  |  Insertion Sort (prioritas rendezes)  |  Graf modosito muveletek (csucs/el hozzaadas, torles)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Rendszerarchitektura es modulok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57400" cy="25603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00D2FF"/>
                </a:solidFill>
                <a:latin typeface="Consolas"/>
              </a:defRPr>
            </a:pPr>
            <a:r>
              <a:t>main.c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Foprogram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Menurendszer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Felhasznaloi interakcio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645920"/>
            <a:ext cx="2057400" cy="25603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6B6B"/>
                </a:solidFill>
                <a:latin typeface="Consolas"/>
              </a:defRPr>
            </a:pPr>
            <a:r>
              <a:t>graph.c/.h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Graf adatszerkezet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Ellista reprezentacio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Helyszin/el kezeles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45920"/>
            <a:ext cx="2057400" cy="25603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51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51CF66"/>
                </a:solidFill>
                <a:latin typeface="Consolas"/>
              </a:defRPr>
            </a:pPr>
            <a:r>
              <a:t>heap.c/.h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Binaris min-kupac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Priority queue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Dijkstra futasideju motor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45920"/>
            <a:ext cx="2057400" cy="25603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D93D"/>
                </a:solidFill>
                <a:latin typeface="Consolas"/>
              </a:defRPr>
            </a:pPr>
            <a:r>
              <a:t>dijkstra.c/.h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Dijkstra algoritmus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Legrovidebb ut szamitas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Utvonal visszafejtes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0"/>
            <a:ext cx="2057400" cy="25603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C0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C080FF"/>
                </a:solidFill>
                <a:latin typeface="Consolas"/>
              </a:defRPr>
            </a:pPr>
            <a:r>
              <a:t>delivery.c/.h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Szallitasi logika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Prioritasi sor</a:t>
            </a:r>
          </a:p>
          <a:p>
            <a:pPr algn="ctr">
              <a:spcAft>
                <a:spcPts val="300"/>
              </a:spcAft>
              <a:defRPr sz="1300">
                <a:solidFill>
                  <a:srgbClr val="AAAACC"/>
                </a:solidFill>
                <a:latin typeface="Calibri"/>
              </a:defRPr>
            </a:pPr>
            <a:r>
              <a:t>Tobbelu utvonalterv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Adatfolyam: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  1. main.c inditja a menut -&gt; letrehozza a Graph es DeliveryQueue objektumokat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  2. Menu muveletek -&gt; graph.c kezeli a graf modositasokat (ellista frissitese)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  3. Utvonal kereses -&gt; dijkstra.c meghivja heap.c-t prioritasi sornak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  4. Szallitas tervezes -&gt; delivery.c hasznalja dijkstra.c-t minden koztes utvonalhoz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Adatszerkezet - Graf (Ellista reprezentacio)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9260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AdjNode {           // Egy el a listaban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dest_vertex;               // Cel csucs azonositoja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distance_weight;           // El sulya (tavolsag km)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struct AdjNode *next;          // Kovetkezo el pointer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AdjNode;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locations;                 // Helyszinek szama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char name[MAX_LOCATION]        // Helyszin nevek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[MAX_NAME_LEN];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AdjNode *adj[MAX_LOCATION];    // Ellista tomb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Graph;                           // Graf adatszerkezet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92608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Jellemzok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Iranyitatlan, sulyozott graf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Ellista reprezentacio (memoria-hatekony)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MAX_LOCATION = 100 csucs felso korlat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MAX_NAME_LEN = 64 karakter nevhez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O(V+E) memoriaigeny (ritka grafokhoz optimalis)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Muveletek: add/remove location &amp;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07040" cy="146304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FFA500"/>
                </a:solidFill>
                <a:latin typeface="Calibri"/>
              </a:defRPr>
            </a:pPr>
            <a:r>
              <a:t>Graf muveletek - implementacio reszletek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graph_add_edge(): ket iranyban lancolja be az AdjNode-ot -&gt; O(1) beszuras (lista elejere)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graph_remove_location(): torli a csucs osszes elet, atindexeli a magasabb ID-ju csucsokat, tomoriti a tombot -&gt; O(V+E)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graph_remove_edge(): pointer-pursuit (pp = &amp;adj[src]) technikaval torli az elet mindket iranybol -&gt; O(E)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Adatszerkezet - Binaris minimalis kupac (Priority Queue)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56032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vertex;       // graf csucs azonosito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distance;     // tavolsag ertek (kulcs)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HeapNode;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size;         // aktualis elemszam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capacity;     // tomb kapacitas (dinamikus)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HeapNode *data;   // tomb: data[0] a gyoker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MinHeap;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56032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Muveletek es komplexitas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heap_push()  - O(log N)  sift_up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Uj elemet a vegere tesz, majd felfele lepteti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heap_pop()   - O(log N)  sift_down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Gyokeret kiveszi, utolsot gyokerbe, lefele lepteti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heap_empty() - O(1)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Dinamikus kapacitasbovites: realloc (2x)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5303520" cy="18288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Kupac vizualizacio (Pl.: (csucs, tav)):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Consolas"/>
              </a:defRPr>
            </a:pPr>
            <a:r>
              <a:t>          (2,5)</a:t>
            </a:r>
            <a:br/>
            <a:r>
              <a:t>         /     \</a:t>
            </a:r>
            <a:br/>
            <a:r>
              <a:t>      (1,8)    (3,12)</a:t>
            </a:r>
            <a:br/>
            <a:r>
              <a:t>      /    \</a:t>
            </a:r>
            <a:br/>
            <a:r>
              <a:t>   (5,15) (0,20)</a:t>
            </a:r>
            <a:br/>
            <a:br/>
            <a:r>
              <a:t>  Minden szulo &lt;= gyerekei  (min-heap tulajdonsag)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5029200" cy="18288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51CF66"/>
                </a:solidFill>
                <a:latin typeface="Calibri"/>
              </a:defRPr>
            </a:pPr>
            <a:r>
              <a:t>Miert kupac?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A Dijkstra algoritmus folyamatosan a legkisebb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tavolsagu csucsot igenyli -&gt; ExtractMin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Binaris kupac: O(log V) per ExtractMin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vs. tomb: O(V) kereses -&gt; sokkal lassabb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Fibonacci kupac elmeletileg jobb (O(1) decrease-key)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de implementacios overhead miatt binaris kupac a praktikus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Adatszerkezetek - DijkstraResult es DeliveryQueue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// Dijkstra algoritmus eredmenye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dist[MAX_LOCATION];  // legrovidebb ut hossza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prev[MAX_LOCATION];  // elozo csucs (utvonalhoz)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DijkstraResult;            // Visszafejtes: prev[] lanc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2860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// Szallitasi cim (prioritassal)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location_id;         // cel helyszin ID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priority;            // alacsonyabb = surgosebb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char label[MAX_NAME_LEN];// vevo megnevezese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DeliveryStop;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typedef struct 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DeliveryStop stops[MAX_STOPS]; // MAX = 50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int count;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 DeliveryQueue;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303520" cy="210312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DijkstraResult - Utvonal visszafejtes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dist[v] = INF  -&gt;  meg nem elert csucs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dist[v] = d   -&gt;  legrovidebb ut hossza src-&gt;v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prev[v] = u   -&gt;  v-t u-bol eruk el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print_path(): rekurzivan koveti a prev[] lancot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src -&gt; ... -&gt; prev[prev[dest]] -&gt; prev[dest] -&gt; dest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5029200" cy="210312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C080FF"/>
                </a:solidFill>
                <a:latin typeface="Calibri"/>
              </a:defRPr>
            </a:pPr>
            <a:r>
              <a:t>DeliveryQueue - Prioritasi sor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Tomb alapu tarolas (max 50 cim)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delivery_queue_sort(): Insertion Sort prioritas szerint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O(N^2) legrosszabb eset, de N &lt;= 50 -&gt; elfogadhato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delivery_queue_route(): sorban vegigmegy 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rendezett listan, minden lepesnel ujra futtatja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Dijkstra-t az aktualis poziciobol a kovetkezo cimre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Dijkstra algoritmus - Elmelet es mukodes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FFD93D"/>
                </a:solidFill>
                <a:latin typeface="Calibri"/>
              </a:defRPr>
            </a:pPr>
            <a:r>
              <a:t>Algoritmus elve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Cel: Legrovidebb ut egy forras csucsbol az osszes tobbi csucsba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Mohó (greedy) algoritmus: minden lepesben a legkozelebbi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meg nem feldolgozott csucsot valasztja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Feltetel: NEM negativ elsulyok (itt: tavolsagok &gt; 0)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Relaxacio: ha dist[u] + w(u,v) &lt; dist[v], akkor frissitjuk v-t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Optimalitas: invarians - minden kivett csucs tavolsaga vegleges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2860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51CF66"/>
                </a:solidFill>
                <a:latin typeface="Calibri"/>
              </a:defRPr>
            </a:pPr>
            <a:r>
              <a:t>Komplexitas elemzes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Binaris kupaccal:  O((V+E) log V)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- V db ExtractMin: O(V log V)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- E db DecreaseKey (implicit push): O(E log V)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Tombos megvalositassal: O(V^2)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- V db linearis minimum kereses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Itt: graf ritka (|E| ~ 2|V|) -&gt; kupacos verzio elonyos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07040" cy="219456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Dijkstra(G, src):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for each v in V:  dist[v] = INF,  prev[v] = -1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dist[src] = 0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pq = MinHeap()                    // priority queue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pq.push(src, 0)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while pq not empty: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u = pq.pop()                  // legkisebb tavolsagu csucs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if cur_dist &gt; dist[u]: continue  // lazy deletion (regi bejegyzes)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for each (u, v, w) in Adj[u]: // minden szomszedra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new = dist[u] + w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if new &lt; dist[v]:          // relaxacio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dist[v] = new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prev[v] = u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pq.push(v, new)        // uj / frissitett bejegyzes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Dijkstra implementacio - Kod szinten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583680" cy="45720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DijkstraResult dijkstra(const Graph *g, int src){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DijkstraResult r;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for (int i = 0; i &lt; g-&gt;locations; i++){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r.dist[i] = INF;          // INT_MAX (limits.h)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r.prev[i] = -1;           // -1 = nincs elozo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r.dist[src] = 0;              // forras tavolsaga 0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MinHeap *pq = heap_create(g-&gt;locations * 2);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heap_push(pq, src, 0);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while (!heap_empty(pq)){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HeapNode curr = heap_pop(pq);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int u = curr.vertex;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if(curr.distance &gt; r.dist[u]) continue;  // lazy deletion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for (AdjNode *adj = g-&gt;adj[u]; adj; adj = adj-&gt;next){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int v = adj-&gt;dest_vertex;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int new_dist = r.dist[u] + adj-&gt;distance_weight;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if (new_dist &lt; r.dist[v]){             // relaxacio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r.dist[v] = new_dist;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r.prev[v] = u;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heap_push(pq, v, new_dist);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heap_free(pq);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return r;  // ertek szerinti visszateres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5720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FF6B6B"/>
                </a:solidFill>
                <a:latin typeface="Calibri"/>
              </a:defRPr>
            </a:pPr>
            <a:r>
              <a:t>Kulcs implementacios dontesek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Lazy deletion: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Regi (nagyobb tavolsagu) bejegyzesek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benn maradnak a kupacban -&gt; pop()-nal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skip-eljuk oket (if cur_dist &gt; dist[u])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Implicit decrease-key: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Uj bejegyzest push()-olunk ahelyett,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hogy a meglevot frissitenenk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Elon: nincs szukseg keresesre 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kupacban a decrease-key-hez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Ertek szerinti visszateres: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A struct-ot masolassal adjuk vissza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(nem dinamikus foglalas)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Infinity = INT_MAX (limits.h)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Szallitasi logika - Prioritasos tobbcelu utvonalterv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01168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C080FF"/>
                </a:solidFill>
                <a:latin typeface="Calibri"/>
              </a:defRPr>
            </a:pPr>
            <a:r>
              <a:t>Algoritmus - delivery_queue_route()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1. A DeliveryQueue rendezve van prioritas szerint (insertion sort)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2. A kiindulasi helyrol Dijkstra-t futtatunk az elso cimre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3. Az utvonalat prev[] lancbol visszafejtjuk (forditott sorrend!)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4. Megerekezes utan innen futtatunk Dijkstra-t a kovetkezo cimre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5. Az utolso cim utan visszatervezunk a kiindulasi helyre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6. Osszesitett tavolsagot szamolunk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0116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// Prioritas szerinti rendezes - Insertion Sort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void delivery_queue_sort(DeliveryQueue *q){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for (int i = 1; i &lt; q-&gt;count; i++){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DeliveryStop key = q-&gt;stops[i];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int j = i - 1;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while (j &gt;= 0 &amp;&amp;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q-&gt;stops[j].priority &gt; key.priority){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q-&gt;stops[j + 1] = q-&gt;stops[j];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j--;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q-&gt;stops[j + 1] = key;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07040" cy="22860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Folyamatabra - Szallitasi utvonalterv: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Consolas"/>
              </a:defRPr>
            </a:pPr>
            <a:r>
              <a:t>  [Raktar:start] --Dijkstra--&gt; [1.Cim(prior)] --Dijkstra--&gt; [2.Cim(prior)] --Dijkstra--&gt; [3.Cim(prior)]</a:t>
            </a:r>
            <a:br/>
            <a:r>
              <a:t>       ^                                                                                          |</a:t>
            </a:r>
            <a:br/>
            <a:r>
              <a:t>       +---------------------------------- Dijkstra ----------------------------------------------+</a:t>
            </a:r>
            <a:br/>
            <a:r>
              <a:t>                                      (visszateres a raktarba)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Demo terkep - Budapest fantazia varos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572000" cy="27432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Helyszinek (8 csucs)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[0] Raktar          - kiindulasi pont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[1] Foter           - kozponti csomopont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[2] Nagy-Kikoto     - tavoli celpont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[3] Keleti-Csarnok  - koztes allomas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[4] Nyugati-Park    - koztes allomas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[5] Deli-Palyaudvar - koztes allomas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[6] Repter          - tavoli celpont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[7] Egyetem         - koztes allomas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554480"/>
            <a:ext cx="5669280" cy="274320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Uthalozat (11 el)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(0&lt;-&gt;1, 5km)  Raktar - Foter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(0&lt;-&gt;5, 10km) Raktar - Deli-Palyaudvar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(1&lt;-&gt;2, 8km)  Foter - Nagy-Kikoto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(1&lt;-&gt;3, 6km)  Foter - Keleti-Csarnok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(1&lt;-&gt;4, 12km) Foter - Nyugati-Park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(2&lt;-&gt;6, 15km) Nagy-Kikoto - Repter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(3&lt;-&gt;6, 9km)  Keleti-Csarnok - Repter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(3&lt;-&gt;7, 7km)  Keleti-Csarnok - Egyetem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(4&lt;-&gt;7, 4km)  Nyugati-Park - Egyetem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(5&lt;-&gt;4, 3km)  Deli-Palyaudvar - Nyugati-Park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(6&lt;-&gt;7, 11km) Repter - Egyetem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18288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[Raktar:0]----5----[Foter:1]----8----[Nagy-Kikoto:2]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|                 |    |    |                  |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10                12    6    3                 15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|                 |    |    |                  |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[Deli-P:5]----3---[Nyugati-P:4] [Keleti-Cs:3]--9--[Repter:6]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        |              |                  |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        4              7                 11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        |              |                  |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      [Egyetem:7]------+------------------+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Pelda futtatas - Szallitasi utvonalterv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01168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Szallitasi cimek (prioritas szerint)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1. Repter       - prioritas: 1 (legsurgosebb)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2. Nagy-Kikoto  - prioritas: 2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3. Egyetem      - prioritas: 3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4. Keleti-Csarnok - prioritas: 5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Kiindulasi hely: Raktar [0]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01168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51CF66"/>
                </a:solidFill>
                <a:latin typeface="Calibri"/>
              </a:defRPr>
            </a:pPr>
            <a:r>
              <a:t>Generalit utvonal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Raktar -&gt; Repter:       15 km  [0-&gt;1-&gt;3-&gt;6]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Repter -&gt; Nagy-Kikoto:  15 km  [6-&gt;2]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Nagy-K. -&gt; Egyetem:     21 km  [2-&gt;1-&gt;3-&gt;7]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Egyetem -&gt; K-Csarnok:    7 km  [7-&gt;3]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Vissza a Raktarba:      14 km  [3-&gt;7-&gt;4-&gt;5-&gt;0]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Osszesen: kb. 72 km, 4 szallitas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07040" cy="237744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Utvonalterv kimenet: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Indulasi hely: Raktar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Szallitas 1:  Utvonal: Raktar -&gt; Foter -&gt; Keleti-Csarnok -&gt; Repter       Tavolsag: 15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Szallitas 2:  Utvonal: Repter -&gt; Nagy-Kikoto                              Tavolsag: 15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Szallitas 3:  Utvonal: Nagy-Kikoto -&gt; Foter -&gt; Keleti-Csarnok -&gt; Egyetem  Tavolsag: 21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Szallitas 4:  Utvonal: Egyetem -&gt; Keleti-Csarnok                          Tavolsag: 7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Visszateres:  Utvonal: Keleti-Csarnok -&gt; Egyetem -&gt; Nyugati-Park -&gt;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                   Deli-Palyaudvar -&gt; Raktar                           Tavolsag: 14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Osszesen: 72 km  |  4 szallitas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Program folyamat - Menurendszer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329184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Fomenu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1) Terkep        -&gt; menu_graph()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2) Utvonalak     -&gt; menu_routing()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3) Szallitasok   -&gt; menu_delivery()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4) Fajl I/O      -&gt; menu_file_io()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0) Kilepes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329184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51CF66"/>
                </a:solidFill>
                <a:latin typeface="Calibri"/>
              </a:defRPr>
            </a:pPr>
            <a:r>
              <a:t>Almenuk reszletezese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Terkep: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1) Helyszin hozzaadasa  2) Eltavolitas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3) Utvonal hozzaadasa   4) Eltavolitas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5) Listazas (graph_print)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Utvonalak: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1) Legrovidebb ut (egy cel)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2) Osszes ut (minden cel)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Szallitasok: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1) Cim hozzaadasa  2) Eltavolitas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3) Listazas  4) Utvonalterv generalas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Fajl I/O:  1) Mentes  2) Betoltes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07040" cy="13716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// Segedfuggvenyek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static void clear_input()                     // stdin puffer uritese scanf utan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{ int c; while ((c = getchar()) != '\n' &amp;&amp; c != EOF);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static int read_int(const char *prompt)       // biztonsagos egesz beolvasas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{ int v; printf("%s",prompt); while(scanf("%d",&amp;v)!=1){ clear_input(); printf("%s",prompt);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clear_input(); return v; }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static void read_str(const char *prompt, char *buf, int size) // biztonsagos string beolvasas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{ printf("%s",prompt); if(fgets(buf,size,stdin)) buf[strcspn(buf,"\r\n")]='\0';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Fajl I/O es Build rendszer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37744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Fajl formatum (.txt)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Egyszeru szoveges formatum a graf perzisztalasara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Struktura: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1. sor:  'Helyszinok szama: N'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2-N+1:  'id nev'  (helyszinek listaja)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'Elek:'  szekcio fejlec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'src dest weight'  (minden elre egy sor)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'Vege'  lezaro sor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save_graph(): iranyitatlan graf eleit iranyitottan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  menti, de csak minden elt egyszer (if dest &gt; src)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237744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01600" bIns="101600"/>
          <a:lstStyle/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# CMakelists.txt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cmake_minimum_required(VERSION 3.10)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project(Homework C)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set(CMAKE_C_STANDARD 11)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set(CMAKE_BUILD_TYPE Debug)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set(CMAKE_RUNTIME_OUTPUT_DIRECTORY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${CMAKE_SOURCE_DIR}/bin)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include_directories(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${CMAKE_SOURCE_DIR}/include)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set(SOURCES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src/main.c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src/delivery.c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src/dijkstra.c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src/graph.c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    src/heap.c)</a:t>
            </a: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300">
                <a:solidFill>
                  <a:srgbClr val="51CF66"/>
                </a:solidFill>
                <a:latin typeface="Consolas"/>
              </a:defRPr>
            </a:pPr>
            <a:r>
              <a:t>add_executable(Homework_app ${SOURCES})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303520" cy="164592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  <a:latin typeface="Calibri"/>
              </a:defRPr>
            </a:pPr>
            <a:r>
              <a:t>Forditas es futtatas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$ mkdir build &amp;&amp; cd build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$ cmake .. &amp;&amp; make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$ ../bin/Homework_app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C11 standard, Debug mod, GCC/Clang kompatibilis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206240"/>
            <a:ext cx="5029200" cy="1645920"/>
          </a:xfrm>
          <a:prstGeom prst="roundRect">
            <a:avLst/>
          </a:prstGeom>
          <a:solidFill>
            <a:srgbClr val="27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FFA500"/>
                </a:solidFill>
                <a:latin typeface="Calibri"/>
              </a:defRPr>
            </a:pPr>
            <a:r>
              <a:t>Projekt struktura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include/  - header fajlok (interfesz)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src/      - forrasfajlok (implementacio)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docs/     - dokumentacio, demo adat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build/    - CMake build kimenet</a:t>
            </a:r>
          </a:p>
          <a:p>
            <a:pPr>
              <a:spcAft>
                <a:spcPts val="400"/>
              </a:spcAft>
              <a:defRPr sz="1500">
                <a:solidFill>
                  <a:srgbClr val="AAAACC"/>
                </a:solidFill>
                <a:latin typeface="Calibri"/>
              </a:defRPr>
            </a:pPr>
            <a:r>
              <a:t>bin/      - futtathato binary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Technikai erdekessegek es tanulsagok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698480" cy="381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Utvonaltervezo rendszer - Kotelezo nagy hazi feladat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0040" cy="82296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2FF"/>
                </a:solidFill>
                <a:latin typeface="Calibri"/>
              </a:defRPr>
            </a:pPr>
            <a:r>
              <a:t>Lazy Deletion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A Dijkstra kupac implementacioban a regi (nagyobb tavolsagu) bejegyzeseket nem toroljuk azonnal. Helyette a pop()-nal ellenorizzuk: ha a kupacbol kivett tavolsag &gt; dist[v], akkor ez egy elavult bejegyzes -&gt; eldobjuk. Ez elkeruli a koltseges decrease-key muvelet implementaciojat.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0040" cy="8229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6B"/>
                </a:solidFill>
                <a:latin typeface="Calibri"/>
              </a:defRPr>
            </a:pPr>
            <a:r>
              <a:t>Pointer-pursuit (pp = &amp;adj[src])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Az ellistabol torleshez pointer-pursuit technikat hasznalunk: AdjNode **pp = &amp;g-&gt;adj[src]. Ez lehetove teszi, hogy a lista elso elemet ugyanolyan koddal toroljuk mint a tobbit, mivel a head pointert is modosithatjuk rajta keresztul.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20040" cy="822960"/>
          </a:xfrm>
          <a:prstGeom prst="roundRect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1CF66"/>
                </a:solidFill>
                <a:latin typeface="Calibri"/>
              </a:defRPr>
            </a:pPr>
            <a:r>
              <a:t>Insertion Sort kis N-re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A szallitasi cimek rendezesehez insertion sort-ot hasznalunk. Bar O(N^2), itt N &lt;= 50, igy a gyakorlatban azonnali. Az insertion sort stabil es kis meretnel gyorsabb mint a konstans faktorok miatt lassabb O(N log N) algoritmusok (pl. qsort).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320040" cy="82296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93D"/>
                </a:solidFill>
                <a:latin typeface="Calibri"/>
              </a:defRPr>
            </a:pPr>
            <a:r>
              <a:t>Dinamikus kupac kapacitas</a:t>
            </a:r>
          </a:p>
          <a:p>
            <a:pPr>
              <a:defRPr sz="1300">
                <a:solidFill>
                  <a:srgbClr val="AAAACC"/>
                </a:solidFill>
                <a:latin typeface="Calibri"/>
              </a:defRPr>
            </a:pPr>
            <a:r>
              <a:t>A kupac kezdeti kapacitasa 2*V, de ha megtelik, a heap_push() automatikusan duplazza a kapacitast realloc()-kal. Ez biztositja, hogy a lazy deletion miatt felhalmozodo elavult bejegyzesek se okozzanak tulcsordulast.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27273E"/>
          </a:solidFill>
          <a:ln w="127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Calibri"/>
              </a:defRPr>
            </a:pPr>
            <a:r>
              <a:t>Osszefoglalas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377440"/>
            <a:ext cx="3931920" cy="254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Calibri"/>
              </a:defRPr>
            </a:pPr>
            <a:r>
              <a:t>  &gt;  Graf adatszerkezet ellista reprezentacioval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718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Calibri"/>
              </a:defRPr>
            </a:pPr>
            <a:r>
              <a:t>  &gt;  Binaris min-kupac mint hatekony priority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38327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Calibri"/>
              </a:defRPr>
            </a:pPr>
            <a:r>
              <a:t>  &gt;  Dijkstra algoritmus O((V+E) log V) futasidovel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7947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Calibri"/>
              </a:defRPr>
            </a:pPr>
            <a:r>
              <a:t>  &gt;  Prioritas-alapu tobbcelu utvonal optimalizalas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062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Calibri"/>
              </a:defRPr>
            </a:pPr>
            <a:r>
              <a:t>  &gt;   Modularis C kod, tiszta interfeszekkel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6177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Calibri"/>
              </a:defRPr>
            </a:pPr>
            <a:r>
              <a:t>  &gt;  Interaktiv CLI, fajl I/O tamogatas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93D"/>
                </a:solidFill>
                <a:latin typeface="Calibri"/>
              </a:defRPr>
            </a:pPr>
            <a:r>
              <a:t>Koszonom a figyelmet!  --  Kerdesek?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